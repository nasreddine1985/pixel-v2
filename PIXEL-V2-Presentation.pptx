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3" r:id="rId28"/>
    <p:sldId id="284" r:id="rId29"/>
    <p:sldId id="285" r:id="rId30"/>
    <p:sldId id="286" r:id="rId31"/>
    <p:sldId id="287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741"/>
  </p:normalViewPr>
  <p:slideViewPr>
    <p:cSldViewPr snapToGrid="0" snapToObjects="1">
      <p:cViewPr varScale="1">
        <p:scale>
          <a:sx n="100" d="100"/>
          <a:sy n="100" d="100"/>
        </p:scale>
        <p:origin x="2152" y="4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003366"/>
                </a:solidFill>
              </a:defRPr>
            </a:pPr>
            <a:r>
              <a:t>PIXEL-V2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Enterprise Payment Message Processing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Enterprise-grade multi-flow payment processing platform</a:t>
            </a:r>
          </a:p>
          <a:p>
            <a:pPr>
              <a:defRPr sz="2000"/>
            </a:pPr>
            <a:r>
              <a:rPr dirty="0"/>
              <a:t>Processing Capability: Multiple payment flows &amp; schemes</a:t>
            </a:r>
          </a:p>
          <a:p>
            <a:pPr>
              <a:defRPr sz="2000"/>
            </a:pPr>
            <a:r>
              <a:rPr dirty="0"/>
              <a:t>Architecture: Microservices with Apache Camel</a:t>
            </a:r>
          </a:p>
          <a:p>
            <a:pPr>
              <a:defRPr sz="2000"/>
            </a:pPr>
            <a:r>
              <a:rPr dirty="0"/>
              <a:t>Technology: Spring Boot 3.4.1, Java 21, Camel 4.1.0</a:t>
            </a:r>
          </a:p>
          <a:p>
            <a:pPr>
              <a:defRPr sz="2000"/>
            </a:pPr>
            <a:r>
              <a:rPr dirty="0"/>
              <a:t>Infrastructure: Containerized with Docker</a:t>
            </a:r>
          </a:p>
          <a:p>
            <a:pPr>
              <a:defRPr sz="2000"/>
            </a:pPr>
            <a:r>
              <a:rPr dirty="0"/>
              <a:t>Integration: Kafka, IBM MQ, PostgreSQL</a:t>
            </a:r>
            <a:r>
              <a:rPr lang="fr-FR" dirty="0"/>
              <a:t>/Oracle..</a:t>
            </a:r>
            <a:r>
              <a:rPr dirty="0"/>
              <a:t>, CFT</a:t>
            </a:r>
          </a:p>
          <a:p>
            <a:pPr>
              <a:defRPr sz="2000"/>
            </a:pPr>
            <a:r>
              <a:rPr dirty="0"/>
              <a:t>Compliance: ISO 20022 standards compliant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What is PIXEL-V2?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Multi-flow payment message processing platform:</a:t>
            </a:r>
          </a:p>
          <a:p>
            <a:pPr lvl="1">
              <a:defRPr sz="1800"/>
            </a:pPr>
            <a:r>
              <a:rPr dirty="0"/>
              <a:t>Supports multiple payment flows</a:t>
            </a:r>
          </a:p>
          <a:p>
            <a:pPr lvl="1">
              <a:defRPr sz="1800"/>
            </a:pPr>
            <a:r>
              <a:rPr dirty="0"/>
              <a:t>Receives payment messages from multiple sources (</a:t>
            </a:r>
            <a:r>
              <a:rPr lang="fr-FR" dirty="0"/>
              <a:t>MQ/CFT/HTTP</a:t>
            </a:r>
            <a:r>
              <a:rPr lang="fr-FR"/>
              <a:t>/TCP</a:t>
            </a:r>
            <a:r>
              <a:t>)</a:t>
            </a:r>
            <a:endParaRPr dirty="0"/>
          </a:p>
          <a:p>
            <a:pPr lvl="1">
              <a:defRPr sz="1800"/>
            </a:pPr>
            <a:r>
              <a:rPr dirty="0"/>
              <a:t>Validates messages against XSD schemas (ISO 20022)</a:t>
            </a:r>
          </a:p>
          <a:p>
            <a:pPr lvl="1">
              <a:defRPr sz="1800"/>
            </a:pPr>
            <a:r>
              <a:rPr dirty="0"/>
              <a:t>Transforms messages using XSLT templates</a:t>
            </a:r>
          </a:p>
          <a:p>
            <a:pPr lvl="1">
              <a:defRPr sz="1800"/>
            </a:pPr>
            <a:r>
              <a:rPr dirty="0"/>
              <a:t>Enriches data with referential information</a:t>
            </a:r>
          </a:p>
          <a:p>
            <a:pPr lvl="1">
              <a:defRPr sz="1800"/>
            </a:pPr>
            <a:r>
              <a:rPr dirty="0"/>
              <a:t>Archives messages to NAS file systems</a:t>
            </a:r>
            <a:r>
              <a:rPr lang="fr-FR" dirty="0"/>
              <a:t>…</a:t>
            </a:r>
            <a:endParaRPr dirty="0"/>
          </a:p>
          <a:p>
            <a:pPr lvl="1">
              <a:defRPr sz="1800"/>
            </a:pPr>
            <a:r>
              <a:rPr dirty="0"/>
              <a:t>Logs processing events to Kafka for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🚀 High Performance</a:t>
            </a:r>
          </a:p>
          <a:p>
            <a:pPr lvl="1">
              <a:defRPr sz="1800"/>
            </a:pPr>
            <a:r>
              <a:t>Spring caching for sub-millisecond referential lookups</a:t>
            </a:r>
          </a:p>
          <a:p>
            <a:pPr>
              <a:defRPr sz="2000"/>
            </a:pPr>
            <a:r>
              <a:t>🔒 Reliability</a:t>
            </a:r>
          </a:p>
          <a:p>
            <a:pPr lvl="1">
              <a:defRPr sz="1800"/>
            </a:pPr>
            <a:r>
              <a:t>Comprehensive validation and error handling</a:t>
            </a:r>
          </a:p>
          <a:p>
            <a:pPr>
              <a:defRPr sz="2000"/>
            </a:pPr>
            <a:r>
              <a:t>📊 Observability</a:t>
            </a:r>
          </a:p>
          <a:p>
            <a:pPr lvl="1">
              <a:defRPr sz="1800"/>
            </a:pPr>
            <a:r>
              <a:t>Complete audit trail via Kafka event streaming</a:t>
            </a:r>
          </a:p>
          <a:p>
            <a:pPr>
              <a:defRPr sz="2000"/>
            </a:pPr>
            <a:r>
              <a:t>🔄 Flexibility</a:t>
            </a:r>
          </a:p>
          <a:p>
            <a:pPr lvl="1">
              <a:defRPr sz="1800"/>
            </a:pPr>
            <a:r>
              <a:t>Configurable flows and transformation rules</a:t>
            </a:r>
          </a:p>
          <a:p>
            <a:pPr>
              <a:defRPr sz="2000"/>
            </a:pPr>
            <a:r>
              <a:t>💾 Compliance</a:t>
            </a:r>
          </a:p>
          <a:p>
            <a:pPr lvl="1">
              <a:defRPr sz="1800"/>
            </a:pPr>
            <a:r>
              <a:t>Automatic message archiving for regulatory requirements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System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Multi-Module Maven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PIXEL-V2 (Parent Module)</a:t>
            </a:r>
          </a:p>
          <a:p>
            <a:pPr lvl="1">
              <a:defRPr sz="1800"/>
            </a:pPr>
            <a:r>
              <a:rPr dirty="0"/>
              <a:t>technical-framework/ - Reusable Camel </a:t>
            </a:r>
            <a:r>
              <a:rPr dirty="0" err="1"/>
              <a:t>Kamelets</a:t>
            </a:r>
            <a:endParaRPr dirty="0"/>
          </a:p>
          <a:p>
            <a:pPr lvl="1">
              <a:defRPr sz="1800"/>
            </a:pPr>
            <a:r>
              <a:rPr dirty="0"/>
              <a:t>referential/ - Configuration Service API</a:t>
            </a:r>
          </a:p>
          <a:p>
            <a:pPr lvl="1">
              <a:defRPr sz="1800"/>
            </a:pPr>
            <a:r>
              <a:rPr dirty="0"/>
              <a:t>flow-</a:t>
            </a:r>
            <a:r>
              <a:rPr dirty="0" err="1"/>
              <a:t>ch</a:t>
            </a:r>
            <a:r>
              <a:rPr dirty="0"/>
              <a:t>/ - ICHSIC Flow (Example Implementation)</a:t>
            </a:r>
          </a:p>
          <a:p>
            <a:pPr lvl="1">
              <a:defRPr sz="1800"/>
            </a:pPr>
            <a:r>
              <a:rPr dirty="0"/>
              <a:t>flow-xxx/ - </a:t>
            </a:r>
            <a:r>
              <a:t>Future flows</a:t>
            </a:r>
            <a:endParaRPr dirty="0"/>
          </a:p>
          <a:p>
            <a:pPr>
              <a:defRPr sz="2000"/>
            </a:pPr>
            <a:r>
              <a:rPr dirty="0"/>
              <a:t>Generic Processing Pipeline:</a:t>
            </a:r>
          </a:p>
          <a:p>
            <a:pPr lvl="1">
              <a:defRPr sz="1800"/>
            </a:pPr>
            <a:r>
              <a:rPr dirty="0"/>
              <a:t>JMS Queue → k-</a:t>
            </a:r>
            <a:r>
              <a:rPr dirty="0" err="1"/>
              <a:t>mq</a:t>
            </a:r>
            <a:r>
              <a:rPr dirty="0"/>
              <a:t>-starter → k-identification</a:t>
            </a:r>
          </a:p>
          <a:p>
            <a:pPr lvl="1">
              <a:defRPr sz="1800"/>
            </a:pPr>
            <a:r>
              <a:rPr dirty="0"/>
              <a:t>→ k-</a:t>
            </a:r>
            <a:r>
              <a:rPr dirty="0" err="1"/>
              <a:t>xsd</a:t>
            </a:r>
            <a:r>
              <a:rPr dirty="0"/>
              <a:t>-validation → k-</a:t>
            </a:r>
            <a:r>
              <a:rPr dirty="0" err="1"/>
              <a:t>xsl</a:t>
            </a:r>
            <a:r>
              <a:rPr dirty="0"/>
              <a:t>-transformation</a:t>
            </a:r>
          </a:p>
          <a:p>
            <a:pPr lvl="1">
              <a:defRPr sz="1800"/>
            </a:pPr>
            <a:r>
              <a:rPr dirty="0"/>
              <a:t>→ k-log-flow-summary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Key Components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Technical Framework - Custom Kamelets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k-mq-starter: JMS queue listener &amp; flow ID generation</a:t>
            </a:r>
          </a:p>
          <a:p>
            <a:pPr>
              <a:defRPr sz="2000"/>
            </a:pPr>
            <a:r>
              <a:t>k-identification: Payment ID &amp; referential lookup (Spring Cache)</a:t>
            </a:r>
          </a:p>
          <a:p>
            <a:pPr>
              <a:defRPr sz="2000"/>
            </a:pPr>
            <a:r>
              <a:t>k-xsd-validation: XML Schema validation (ISO 20022)</a:t>
            </a:r>
          </a:p>
          <a:p>
            <a:pPr>
              <a:defRPr sz="2000"/>
            </a:pPr>
            <a:r>
              <a:t>k-xsl-transformation: XSLT-based message transformation</a:t>
            </a:r>
          </a:p>
          <a:p>
            <a:pPr>
              <a:defRPr sz="2000"/>
            </a:pPr>
            <a:r>
              <a:t>k-log-flow-summary: Audit logging to Kafka</a:t>
            </a:r>
          </a:p>
          <a:p>
            <a:pPr>
              <a:defRPr sz="2000"/>
            </a:pPr>
            <a:r>
              <a:t>k-kafka-publisher: Asynchronous event streaming</a:t>
            </a:r>
          </a:p>
          <a:p>
            <a:pPr>
              <a:defRPr sz="2000"/>
            </a:pPr>
            <a:r>
              <a:t>k-cft-publisher: CFT file transfer integration</a:t>
            </a:r>
          </a:p>
          <a:p>
            <a:pPr>
              <a:defRPr sz="2000"/>
            </a:pPr>
            <a:r>
              <a:t>k-http-publisher: RESTful service integration</a:t>
            </a:r>
          </a:p>
          <a:p>
            <a:pPr>
              <a:defRPr sz="2000"/>
            </a:pPr>
            <a:r>
              <a:t>k-db-tx: Database transaction management</a:t>
            </a:r>
          </a:p>
          <a:p>
            <a:pPr>
              <a:defRPr sz="2000"/>
            </a:pPr>
            <a:r>
              <a:t>k-duplicate-check: Duplicate message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Flow-CH: ICHSIC Flow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One of many payment flows in PIXEL-V2</a:t>
            </a:r>
          </a:p>
          <a:p>
            <a:pPr>
              <a:defRPr sz="2000"/>
            </a:pPr>
            <a:r>
              <a:t>Flow Code: ICHSIC (Switzerland IN SEPA SIC)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Input: JMS queues (IBM MQ)</a:t>
            </a:r>
          </a:p>
          <a:p>
            <a:pPr>
              <a:defRPr sz="2000"/>
            </a:pPr>
            <a:r>
              <a:t>Validation: pacs.008.001.02.ch.02.xsd</a:t>
            </a:r>
          </a:p>
          <a:p>
            <a:pPr>
              <a:defRPr sz="2000"/>
            </a:pPr>
            <a:r>
              <a:t>Transformation: overall-xslt-ch-pacs008-001-02.xsl</a:t>
            </a:r>
          </a:p>
          <a:p>
            <a:pPr>
              <a:defRPr sz="2000"/>
            </a:pPr>
            <a:r>
              <a:t>Output: Kafka topics, NAS archive, CFT transfer</a:t>
            </a:r>
          </a:p>
          <a:p>
            <a:pPr>
              <a:defRPr sz="2000"/>
            </a:pPr>
            <a:r>
              <a:t>Configuration: Dynamic via referential service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Each flow module follows the same pattern</a:t>
            </a:r>
          </a:p>
          <a:p>
            <a:pPr>
              <a:defRPr sz="2000"/>
            </a:pPr>
            <a:r>
              <a:t>Reusable Kamelets from technical-framework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Referential Configuration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Central configuration repository for ALL flows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Features:</a:t>
            </a:r>
          </a:p>
          <a:p>
            <a:pPr lvl="1">
              <a:defRPr sz="1800"/>
            </a:pPr>
            <a:r>
              <a:t>Flow definitions (ICHSIC, SEPA, SWIFT, etc.)</a:t>
            </a:r>
          </a:p>
          <a:p>
            <a:pPr lvl="1">
              <a:defRPr sz="1800"/>
            </a:pPr>
            <a:r>
              <a:t>Country and partner mappings</a:t>
            </a:r>
          </a:p>
          <a:p>
            <a:pPr lvl="1">
              <a:defRPr sz="1800"/>
            </a:pPr>
            <a:r>
              <a:t>Business rules and validation parameters</a:t>
            </a:r>
          </a:p>
          <a:p>
            <a:pPr lvl="1">
              <a:defRPr sz="1800"/>
            </a:pPr>
            <a:r>
              <a:t>Character encoding configurations</a:t>
            </a:r>
          </a:p>
          <a:p>
            <a:pPr lvl="1">
              <a:defRPr sz="1800"/>
            </a:pPr>
            <a:r>
              <a:t>Real-time configuration retrieval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Technology:</a:t>
            </a:r>
          </a:p>
          <a:p>
            <a:pPr lvl="1">
              <a:defRPr sz="1800"/>
            </a:pPr>
            <a:r>
              <a:t>Spring Boot 3.4.1 + PostgreSQL + Liquibase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Technical Stack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Multi-Flow Architecture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Scalable architecture supporting multiple payment flows: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Shared Components:</a:t>
            </a:r>
          </a:p>
          <a:p>
            <a:pPr lvl="1">
              <a:defRPr sz="1800"/>
            </a:pPr>
            <a:r>
              <a:t>✓ Technical Framework (reusable Kamelets)</a:t>
            </a:r>
          </a:p>
          <a:p>
            <a:pPr lvl="1">
              <a:defRPr sz="1800"/>
            </a:pPr>
            <a:r>
              <a:t>✓ Referential Service (centralized configuration)</a:t>
            </a:r>
          </a:p>
          <a:p>
            <a:pPr lvl="1">
              <a:defRPr sz="1800"/>
            </a:pPr>
            <a:r>
              <a:t>✓ Infrastructure (Kafka, Redis, PostgreSQL, etc.)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Independent Flow Modules:</a:t>
            </a:r>
          </a:p>
          <a:p>
            <a:pPr lvl="1">
              <a:defRPr sz="1800"/>
            </a:pPr>
            <a:r>
              <a:t>✓ flow-ch (ICHSIC) - Example implementation</a:t>
            </a:r>
          </a:p>
          <a:p>
            <a:pPr lvl="1">
              <a:defRPr sz="1800"/>
            </a:pPr>
            <a:r>
              <a:t>✓ flow-sepa - Future SEPA flows</a:t>
            </a:r>
          </a:p>
          <a:p>
            <a:pPr lvl="1">
              <a:defRPr sz="1800"/>
            </a:pPr>
            <a:r>
              <a:t>✓ flow-swift - Future SWIFT flows</a:t>
            </a:r>
          </a:p>
          <a:p>
            <a:pPr lvl="1">
              <a:defRPr sz="1800"/>
            </a:pPr>
            <a:r>
              <a:t>✓ Each flow: Own configuration, XSD, XSLT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Core Technologies &amp;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600"/>
            </a:pPr>
            <a:r>
              <a:t>Core Technologies:</a:t>
            </a:r>
          </a:p>
          <a:p>
            <a:pPr>
              <a:spcAft>
                <a:spcPts val="1000"/>
              </a:spcAft>
              <a:defRPr sz="1600"/>
            </a:pPr>
            <a:r>
              <a:t>• Java 21 (LTS)</a:t>
            </a:r>
          </a:p>
          <a:p>
            <a:pPr>
              <a:spcAft>
                <a:spcPts val="1000"/>
              </a:spcAft>
              <a:defRPr sz="1600"/>
            </a:pPr>
            <a:r>
              <a:t>• Spring Boot 3.4.1</a:t>
            </a:r>
          </a:p>
          <a:p>
            <a:pPr>
              <a:spcAft>
                <a:spcPts val="1000"/>
              </a:spcAft>
              <a:defRPr sz="1600"/>
            </a:pPr>
            <a:r>
              <a:t>• Apache Camel 4.1.0</a:t>
            </a:r>
          </a:p>
          <a:p>
            <a:pPr>
              <a:spcAft>
                <a:spcPts val="1000"/>
              </a:spcAft>
              <a:defRPr sz="1600"/>
            </a:pPr>
            <a:r>
              <a:t>• Maven 3.9+</a:t>
            </a:r>
          </a:p>
          <a:p>
            <a:pPr>
              <a:spcAft>
                <a:spcPts val="1000"/>
              </a:spcAft>
              <a:defRPr sz="1600"/>
            </a:pPr>
            <a:r>
              <a:t>• Docker</a:t>
            </a:r>
          </a:p>
          <a:p>
            <a:pPr>
              <a:spcAft>
                <a:spcPts val="1000"/>
              </a:spcAft>
              <a:defRPr sz="1600"/>
            </a:pPr>
            <a:endParaRPr/>
          </a:p>
          <a:p>
            <a:pPr>
              <a:spcAft>
                <a:spcPts val="1000"/>
              </a:spcAft>
              <a:defRPr sz="1600"/>
            </a:pPr>
            <a:r>
              <a:t>Processing:</a:t>
            </a:r>
          </a:p>
          <a:p>
            <a:pPr>
              <a:spcAft>
                <a:spcPts val="1000"/>
              </a:spcAft>
              <a:defRPr sz="1600"/>
            </a:pPr>
            <a:r>
              <a:t>• Saxon 12.3 (XSLT)</a:t>
            </a:r>
          </a:p>
          <a:p>
            <a:pPr>
              <a:spcAft>
                <a:spcPts val="1000"/>
              </a:spcAft>
              <a:defRPr sz="1600"/>
            </a:pPr>
            <a:r>
              <a:t>• Hibernate 6.2.7</a:t>
            </a:r>
          </a:p>
          <a:p>
            <a:pPr>
              <a:spcAft>
                <a:spcPts val="1000"/>
              </a:spcAft>
              <a:defRPr sz="1600"/>
            </a:pPr>
            <a:r>
              <a:t>• Liquibase 4.25.1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600"/>
            </a:pPr>
            <a:r>
              <a:t>Infrastructure:</a:t>
            </a:r>
          </a:p>
          <a:p>
            <a:pPr>
              <a:spcAft>
                <a:spcPts val="1000"/>
              </a:spcAft>
              <a:defRPr sz="1600"/>
            </a:pPr>
            <a:r>
              <a:t>• IBM MQ (Enterprise JMS)</a:t>
            </a:r>
          </a:p>
          <a:p>
            <a:pPr>
              <a:spcAft>
                <a:spcPts val="1000"/>
              </a:spcAft>
              <a:defRPr sz="1600"/>
            </a:pPr>
            <a:r>
              <a:t>• Apache Kafka (Events)</a:t>
            </a:r>
          </a:p>
          <a:p>
            <a:pPr>
              <a:spcAft>
                <a:spcPts val="1000"/>
              </a:spcAft>
              <a:defRPr sz="1600"/>
            </a:pPr>
            <a:r>
              <a:t>• Redis (Cache)</a:t>
            </a:r>
          </a:p>
          <a:p>
            <a:pPr>
              <a:spcAft>
                <a:spcPts val="1000"/>
              </a:spcAft>
              <a:defRPr sz="1600"/>
            </a:pPr>
            <a:r>
              <a:t>• PostgreSQL (Database)</a:t>
            </a:r>
          </a:p>
          <a:p>
            <a:pPr>
              <a:spcAft>
                <a:spcPts val="1000"/>
              </a:spcAft>
              <a:defRPr sz="1600"/>
            </a:pPr>
            <a:r>
              <a:t>• Axway CFT (File Transfer)</a:t>
            </a:r>
          </a:p>
          <a:p>
            <a:pPr>
              <a:spcAft>
                <a:spcPts val="1000"/>
              </a:spcAft>
              <a:defRPr sz="1600"/>
            </a:pPr>
            <a:r>
              <a:t>• Hawtio (Monitoring)</a:t>
            </a:r>
          </a:p>
          <a:p>
            <a:pPr>
              <a:spcAft>
                <a:spcPts val="1000"/>
              </a:spcAft>
              <a:defRPr sz="1600"/>
            </a:pPr>
            <a:endParaRPr/>
          </a:p>
          <a:p>
            <a:pPr>
              <a:spcAft>
                <a:spcPts val="1000"/>
              </a:spcAft>
              <a:defRPr sz="1600"/>
            </a:pPr>
            <a:r>
              <a:t>Standards:</a:t>
            </a:r>
          </a:p>
          <a:p>
            <a:pPr>
              <a:spcAft>
                <a:spcPts val="1000"/>
              </a:spcAft>
              <a:defRPr sz="1600"/>
            </a:pPr>
            <a:r>
              <a:t>• ISO 20022</a:t>
            </a:r>
          </a:p>
          <a:p>
            <a:pPr>
              <a:spcAft>
                <a:spcPts val="1000"/>
              </a:spcAft>
              <a:defRPr sz="1600"/>
            </a:pPr>
            <a:r>
              <a:t>• PACS.008 (Swiss)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Core Features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Message 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Complete processing workflow: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1. Input → Message reception from JMS queues</a:t>
            </a:r>
          </a:p>
          <a:p>
            <a:pPr>
              <a:defRPr sz="2000"/>
            </a:pPr>
            <a:r>
              <a:t>2. Archive → Save to NAS file system</a:t>
            </a:r>
          </a:p>
          <a:p>
            <a:pPr>
              <a:defRPr sz="2000"/>
            </a:pPr>
            <a:r>
              <a:t>3. Identify → Lookup referential data (Redis cache)</a:t>
            </a:r>
          </a:p>
          <a:p>
            <a:pPr>
              <a:defRPr sz="2000"/>
            </a:pPr>
            <a:r>
              <a:t>4. Validate → XSD schema validation (ISO 20022)</a:t>
            </a:r>
          </a:p>
          <a:p>
            <a:pPr>
              <a:defRPr sz="2000"/>
            </a:pPr>
            <a:r>
              <a:t>5. Transform → XSLT transformation</a:t>
            </a:r>
          </a:p>
          <a:p>
            <a:pPr>
              <a:defRPr sz="2000"/>
            </a:pPr>
            <a:r>
              <a:t>6. Log → Publish events to Kafka</a:t>
            </a:r>
          </a:p>
          <a:p>
            <a:pPr>
              <a:defRPr sz="2000"/>
            </a:pPr>
            <a:r>
              <a:t>7. Output → Final routing and delivery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Each step includes error handling, metrics, and logging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Caching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Spring caching for high performance: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✓ Configurable TTL (default: 3600 seconds)</a:t>
            </a:r>
          </a:p>
          <a:p>
            <a:pPr>
              <a:defRPr sz="2000"/>
            </a:pPr>
            <a:r>
              <a:t>✓ Cache-aside pattern implementation</a:t>
            </a:r>
          </a:p>
          <a:p>
            <a:pPr>
              <a:defRPr sz="2000"/>
            </a:pPr>
            <a:r>
              <a:t>✓ Automatic cache invalidation</a:t>
            </a:r>
          </a:p>
          <a:p>
            <a:pPr>
              <a:defRPr sz="2000"/>
            </a:pPr>
            <a:r>
              <a:t>✓ Fallback to service calls on cache miss</a:t>
            </a:r>
          </a:p>
          <a:p>
            <a:pPr>
              <a:defRPr sz="2000"/>
            </a:pPr>
            <a:r>
              <a:t>✓ Sub-millisecond lookup times</a:t>
            </a:r>
          </a:p>
          <a:p>
            <a:pPr>
              <a:defRPr sz="2000"/>
            </a:pPr>
            <a:r>
              <a:t>✓ Supports Redis, Caffeine, EhCache backends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Benefits:</a:t>
            </a:r>
          </a:p>
          <a:p>
            <a:pPr lvl="1">
              <a:defRPr sz="1800"/>
            </a:pPr>
            <a:r>
              <a:t>Reduced latency for referential lookups</a:t>
            </a:r>
          </a:p>
          <a:p>
            <a:pPr lvl="1">
              <a:defRPr sz="1800"/>
            </a:pPr>
            <a:r>
              <a:t>Lower load on PostgreSQL database</a:t>
            </a:r>
          </a:p>
          <a:p>
            <a:pPr lvl="1">
              <a:defRPr sz="1800"/>
            </a:pPr>
            <a:r>
              <a:t>Improved overall system throughput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Multi-Flow Architecture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Example: ICHSIC Flow (One of Many)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Flow Code: ICHSIC (Switzerland IN SEPA SIC)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Step 1: Message Reception</a:t>
            </a:r>
          </a:p>
          <a:p>
            <a:pPr lvl="1">
              <a:defRPr sz="1800"/>
            </a:pPr>
            <a:r>
              <a:t>IBM MQ → K-MQ-Starter → Generate flow ID</a:t>
            </a:r>
          </a:p>
          <a:p>
            <a:pPr lvl="1">
              <a:defRPr sz="1800"/>
            </a:pPr>
            <a:r>
              <a:t>Archive to /opt/nas/CH/IN/{flowOccurId}/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Step 2: Identification &amp; Enrichment</a:t>
            </a:r>
          </a:p>
          <a:p>
            <a:pPr lvl="1">
              <a:defRPr sz="1800"/>
            </a:pPr>
            <a:r>
              <a:t>K-Identification → Spring Cache → Referential Service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Step 3-5: Validate → Transform → Log → CFT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Other flows follow the same pattern with different configs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Infrastructure &amp; Deployment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Docker Compose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Complete containerized infrastructure: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• Zookeeper - Kafka coordination</a:t>
            </a:r>
          </a:p>
          <a:p>
            <a:pPr>
              <a:defRPr sz="2000"/>
            </a:pPr>
            <a:r>
              <a:t>• Kafka - Event streaming (ports 9092, 29092)</a:t>
            </a:r>
          </a:p>
          <a:p>
            <a:pPr>
              <a:defRPr sz="2000"/>
            </a:pPr>
            <a:r>
              <a:t>• PostgreSQL - Database (port 5432)</a:t>
            </a:r>
          </a:p>
          <a:p>
            <a:pPr>
              <a:defRPr sz="2000"/>
            </a:pPr>
            <a:r>
              <a:t>• Redis - Cache (port 6379)</a:t>
            </a:r>
          </a:p>
          <a:p>
            <a:pPr>
              <a:defRPr sz="2000"/>
            </a:pPr>
            <a:r>
              <a:t>• IBM MQ - Enterprise message broker (ports 1414, 9443)</a:t>
            </a:r>
          </a:p>
          <a:p>
            <a:pPr>
              <a:defRPr sz="2000"/>
            </a:pPr>
            <a:r>
              <a:t>• Axway CFT - File transfer (port 1761)</a:t>
            </a:r>
          </a:p>
          <a:p>
            <a:pPr>
              <a:defRPr sz="2000"/>
            </a:pPr>
            <a:r>
              <a:t>• Referential API - Config service (port 8099)</a:t>
            </a:r>
          </a:p>
          <a:p>
            <a:pPr>
              <a:defRPr sz="2000"/>
            </a:pPr>
            <a:r>
              <a:t>• Flow Apps - Multiple payment processors (scalable)</a:t>
            </a:r>
          </a:p>
          <a:p>
            <a:pPr>
              <a:defRPr sz="2000"/>
            </a:pPr>
            <a:r>
              <a:t>• Hawtio - Camel monitoring (port 8090)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Network: pixel-v2-network (Bridge)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Apache Camel &amp; Spring Boot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Apache Camel - Enterprise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Why Apache Camel?</a:t>
            </a:r>
          </a:p>
          <a:p>
            <a:pPr lvl="1">
              <a:defRPr sz="1800"/>
            </a:pPr>
            <a:r>
              <a:t>300+ components for connectivity</a:t>
            </a:r>
          </a:p>
          <a:p>
            <a:pPr lvl="1">
              <a:defRPr sz="1800"/>
            </a:pPr>
            <a:r>
              <a:t>Enterprise Integration Patterns (EIP)</a:t>
            </a:r>
          </a:p>
          <a:p>
            <a:pPr lvl="1">
              <a:defRPr sz="1800"/>
            </a:pPr>
            <a:r>
              <a:t>Kamelet support for reusable templates</a:t>
            </a:r>
          </a:p>
          <a:p>
            <a:pPr lvl="1">
              <a:defRPr sz="1800"/>
            </a:pPr>
            <a:r>
              <a:t>Cloud-native and lightweight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Key Features in PIXEL-V2:</a:t>
            </a:r>
          </a:p>
          <a:p>
            <a:pPr lvl="1">
              <a:defRPr sz="1800"/>
            </a:pPr>
            <a:r>
              <a:t>Content-Based Routing</a:t>
            </a:r>
          </a:p>
          <a:p>
            <a:pPr lvl="1">
              <a:defRPr sz="1800"/>
            </a:pPr>
            <a:r>
              <a:t>Message Transformation (XSLT, JSON, XML)</a:t>
            </a:r>
          </a:p>
          <a:p>
            <a:pPr lvl="1">
              <a:defRPr sz="1800"/>
            </a:pPr>
            <a:r>
              <a:t>Error Handling (dead letter, retry, circuit breaker)</a:t>
            </a:r>
          </a:p>
          <a:p>
            <a:pPr lvl="1">
              <a:defRPr sz="1800"/>
            </a:pPr>
            <a:r>
              <a:t>Parallel Processing with thread pools</a:t>
            </a:r>
          </a:p>
          <a:p>
            <a:pPr lvl="1">
              <a:defRPr sz="1800"/>
            </a:pPr>
            <a:r>
              <a:t>Idempotency &amp; duplicate detection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Spring Boot 3.4.1 - Modern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Why Spring Boot?</a:t>
            </a:r>
          </a:p>
          <a:p>
            <a:pPr lvl="1">
              <a:defRPr sz="1800"/>
            </a:pPr>
            <a:r>
              <a:t>Auto-configuration for rapid development</a:t>
            </a:r>
          </a:p>
          <a:p>
            <a:pPr lvl="1">
              <a:defRPr sz="1800"/>
            </a:pPr>
            <a:r>
              <a:t>Production-ready features (health, metrics)</a:t>
            </a:r>
          </a:p>
          <a:p>
            <a:pPr lvl="1">
              <a:defRPr sz="1800"/>
            </a:pPr>
            <a:r>
              <a:t>Cloud-native support</a:t>
            </a:r>
          </a:p>
          <a:p>
            <a:pPr lvl="1">
              <a:defRPr sz="1800"/>
            </a:pPr>
            <a:r>
              <a:t>Seamless Camel integration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Features in PIXEL-V2:</a:t>
            </a:r>
          </a:p>
          <a:p>
            <a:pPr lvl="1">
              <a:defRPr sz="1800"/>
            </a:pPr>
            <a:r>
              <a:t>Spring Boot Starter for Camel</a:t>
            </a:r>
          </a:p>
          <a:p>
            <a:pPr lvl="1">
              <a:defRPr sz="1800"/>
            </a:pPr>
            <a:r>
              <a:t>Configuration management (profiles)</a:t>
            </a:r>
          </a:p>
          <a:p>
            <a:pPr lvl="1">
              <a:defRPr sz="1800"/>
            </a:pPr>
            <a:r>
              <a:t>Spring Data JPA + PostgreSQL</a:t>
            </a:r>
          </a:p>
          <a:p>
            <a:pPr lvl="1">
              <a:defRPr sz="1800"/>
            </a:pPr>
            <a:r>
              <a:t>Spring Data Redis for distributed caching</a:t>
            </a:r>
          </a:p>
          <a:p>
            <a:pPr lvl="1">
              <a:defRPr sz="1800"/>
            </a:pPr>
            <a:r>
              <a:t>Spring Cache abstraction (Redis/Caffeine/EhCache)</a:t>
            </a:r>
          </a:p>
          <a:p>
            <a:pPr lvl="1">
              <a:defRPr sz="1800"/>
            </a:pPr>
            <a:r>
              <a:t>Actuator endpoints (/health, /metrics)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Hawtio - Real-Time Camel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What is Hawtio?</a:t>
            </a:r>
          </a:p>
          <a:p>
            <a:pPr lvl="1">
              <a:defRPr sz="1800"/>
            </a:pPr>
            <a:r>
              <a:t>Lightweight web console for Java applications</a:t>
            </a:r>
          </a:p>
          <a:p>
            <a:pPr lvl="1">
              <a:defRPr sz="1800"/>
            </a:pPr>
            <a:r>
              <a:t>First-class Apache Camel support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Key Features:</a:t>
            </a:r>
          </a:p>
          <a:p>
            <a:pPr lvl="1">
              <a:defRPr sz="1800"/>
            </a:pPr>
            <a:r>
              <a:t>Real-time route visualization</a:t>
            </a:r>
          </a:p>
          <a:p>
            <a:pPr lvl="1">
              <a:defRPr sz="1800"/>
            </a:pPr>
            <a:r>
              <a:t>Message tracing and inspection</a:t>
            </a:r>
          </a:p>
          <a:p>
            <a:pPr lvl="1">
              <a:defRPr sz="1800"/>
            </a:pPr>
            <a:r>
              <a:t>Performance metrics (throughput, latency)</a:t>
            </a:r>
          </a:p>
          <a:p>
            <a:pPr lvl="1">
              <a:defRPr sz="1800"/>
            </a:pPr>
            <a:r>
              <a:t>JMX management</a:t>
            </a:r>
          </a:p>
          <a:p>
            <a:pPr lvl="1">
              <a:defRPr sz="1800"/>
            </a:pPr>
            <a:r>
              <a:t>Route control (start/stop/suspend)</a:t>
            </a:r>
          </a:p>
          <a:p>
            <a:pPr lvl="1">
              <a:defRPr sz="1800"/>
            </a:pPr>
            <a:r>
              <a:t>Thread pool monitoring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Access: http://localhost:8090/hawtio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Kaoto - Visual Camel Route Designer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What is Kaoto?</a:t>
            </a:r>
          </a:p>
          <a:p>
            <a:pPr lvl="1">
              <a:defRPr sz="1800"/>
            </a:pPr>
            <a:r>
              <a:t>Low-code integration designer for Camel</a:t>
            </a:r>
          </a:p>
          <a:p>
            <a:pPr lvl="1">
              <a:defRPr sz="1800"/>
            </a:pPr>
            <a:r>
              <a:t>Drag-and-drop route creation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Key Features:</a:t>
            </a:r>
          </a:p>
          <a:p>
            <a:pPr lvl="1">
              <a:defRPr sz="1800"/>
            </a:pPr>
            <a:r>
              <a:t>Visual design canvas</a:t>
            </a:r>
          </a:p>
          <a:p>
            <a:pPr lvl="1">
              <a:defRPr sz="1800"/>
            </a:pPr>
            <a:r>
              <a:t>Browse 300+ Camel components</a:t>
            </a:r>
          </a:p>
          <a:p>
            <a:pPr lvl="1">
              <a:defRPr sz="1800"/>
            </a:pPr>
            <a:r>
              <a:t>Kamelet designer</a:t>
            </a:r>
          </a:p>
          <a:p>
            <a:pPr lvl="1">
              <a:defRPr sz="1800"/>
            </a:pPr>
            <a:r>
              <a:t>Auto-generate YAML/Java code</a:t>
            </a:r>
          </a:p>
          <a:p>
            <a:pPr lvl="1">
              <a:defRPr sz="1800"/>
            </a:pPr>
            <a:r>
              <a:t>Template library for common patterns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Use Cases:</a:t>
            </a:r>
          </a:p>
          <a:p>
            <a:pPr lvl="1">
              <a:defRPr sz="1800"/>
            </a:pPr>
            <a:r>
              <a:t>Design new payment flows visually</a:t>
            </a:r>
          </a:p>
          <a:p>
            <a:pPr lvl="1">
              <a:defRPr sz="1800"/>
            </a:pPr>
            <a:r>
              <a:t>Rapid prototyping</a:t>
            </a:r>
          </a:p>
          <a:p>
            <a:pPr lvl="1">
              <a:defRPr sz="1800"/>
            </a:pPr>
            <a:r>
              <a:t>Developer onboarding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Security &amp; Compliance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Security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600"/>
            </a:pPr>
            <a:r>
              <a:t>Security Features:</a:t>
            </a:r>
          </a:p>
          <a:p>
            <a:pPr>
              <a:spcAft>
                <a:spcPts val="1000"/>
              </a:spcAft>
              <a:defRPr sz="1600"/>
            </a:pPr>
            <a:r>
              <a:t>• Spring Security integration</a:t>
            </a:r>
          </a:p>
          <a:p>
            <a:pPr>
              <a:spcAft>
                <a:spcPts val="1000"/>
              </a:spcAft>
              <a:defRPr sz="1600"/>
            </a:pPr>
            <a:r>
              <a:t>• Password encryption</a:t>
            </a:r>
          </a:p>
          <a:p>
            <a:pPr>
              <a:spcAft>
                <a:spcPts val="1000"/>
              </a:spcAft>
              <a:defRPr sz="1600"/>
            </a:pPr>
            <a:r>
              <a:t>• Docker network isolation</a:t>
            </a:r>
          </a:p>
          <a:p>
            <a:pPr>
              <a:spcAft>
                <a:spcPts val="1000"/>
              </a:spcAft>
              <a:defRPr sz="1600"/>
            </a:pPr>
            <a:r>
              <a:t>• Service-level access control</a:t>
            </a:r>
          </a:p>
          <a:p>
            <a:pPr>
              <a:spcAft>
                <a:spcPts val="1000"/>
              </a:spcAft>
              <a:defRPr sz="1600"/>
            </a:pPr>
            <a:r>
              <a:t>• Redis authentication</a:t>
            </a:r>
          </a:p>
          <a:p>
            <a:pPr>
              <a:spcAft>
                <a:spcPts val="1000"/>
              </a:spcAft>
              <a:defRPr sz="1600"/>
            </a:pPr>
            <a:r>
              <a:t>• IBM MQ secure channels</a:t>
            </a:r>
          </a:p>
          <a:p>
            <a:pPr>
              <a:spcAft>
                <a:spcPts val="1000"/>
              </a:spcAft>
              <a:defRPr sz="1600"/>
            </a:pPr>
            <a:r>
              <a:t>• CFT encryption</a:t>
            </a:r>
          </a:p>
          <a:p>
            <a:pPr>
              <a:spcAft>
                <a:spcPts val="1000"/>
              </a:spcAft>
              <a:defRPr sz="1600"/>
            </a:pPr>
            <a:endParaRPr/>
          </a:p>
          <a:p>
            <a:pPr>
              <a:spcAft>
                <a:spcPts val="1000"/>
              </a:spcAft>
              <a:defRPr sz="1600"/>
            </a:pPr>
            <a:r>
              <a:t>Data Protection:</a:t>
            </a:r>
          </a:p>
          <a:p>
            <a:pPr>
              <a:spcAft>
                <a:spcPts val="1000"/>
              </a:spcAft>
              <a:defRPr sz="1600"/>
            </a:pPr>
            <a:r>
              <a:t>• Secure PostgreSQL storage</a:t>
            </a:r>
          </a:p>
          <a:p>
            <a:pPr>
              <a:spcAft>
                <a:spcPts val="1000"/>
              </a:spcAft>
              <a:defRPr sz="1600"/>
            </a:pPr>
            <a:r>
              <a:t>• NAS file permissions</a:t>
            </a:r>
          </a:p>
          <a:p>
            <a:pPr>
              <a:spcAft>
                <a:spcPts val="1000"/>
              </a:spcAft>
              <a:defRPr sz="1600"/>
            </a:pPr>
            <a:r>
              <a:t>• Encrypted connections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600"/>
            </a:pPr>
            <a:r>
              <a:t>Compliance:</a:t>
            </a:r>
          </a:p>
          <a:p>
            <a:pPr>
              <a:spcAft>
                <a:spcPts val="1000"/>
              </a:spcAft>
              <a:defRPr sz="1600"/>
            </a:pPr>
            <a:r>
              <a:t>• ISO 20022 full compliance</a:t>
            </a:r>
          </a:p>
          <a:p>
            <a:pPr>
              <a:spcAft>
                <a:spcPts val="1000"/>
              </a:spcAft>
              <a:defRPr sz="1600"/>
            </a:pPr>
            <a:r>
              <a:t>• Complete Kafka audit trail</a:t>
            </a:r>
          </a:p>
          <a:p>
            <a:pPr>
              <a:spcAft>
                <a:spcPts val="1000"/>
              </a:spcAft>
              <a:defRPr sz="1600"/>
            </a:pPr>
            <a:r>
              <a:t>• NAS message archiving</a:t>
            </a:r>
          </a:p>
          <a:p>
            <a:pPr>
              <a:spcAft>
                <a:spcPts val="1000"/>
              </a:spcAft>
              <a:defRPr sz="1600"/>
            </a:pPr>
            <a:r>
              <a:t>• Regulatory retention</a:t>
            </a:r>
          </a:p>
          <a:p>
            <a:pPr>
              <a:spcAft>
                <a:spcPts val="1000"/>
              </a:spcAft>
              <a:defRPr sz="1600"/>
            </a:pPr>
            <a:r>
              <a:t>• Strict XSD validation</a:t>
            </a:r>
          </a:p>
          <a:p>
            <a:pPr>
              <a:spcAft>
                <a:spcPts val="1000"/>
              </a:spcAft>
              <a:defRPr sz="1600"/>
            </a:pPr>
            <a:endParaRPr/>
          </a:p>
          <a:p>
            <a:pPr>
              <a:spcAft>
                <a:spcPts val="1000"/>
              </a:spcAft>
              <a:defRPr sz="1600"/>
            </a:pPr>
            <a:r>
              <a:t>Audit Capabilities:</a:t>
            </a:r>
          </a:p>
          <a:p>
            <a:pPr>
              <a:spcAft>
                <a:spcPts val="1000"/>
              </a:spcAft>
              <a:defRPr sz="1600"/>
            </a:pPr>
            <a:r>
              <a:t>• Event-driven logging</a:t>
            </a:r>
          </a:p>
          <a:p>
            <a:pPr>
              <a:spcAft>
                <a:spcPts val="1000"/>
              </a:spcAft>
              <a:defRPr sz="1600"/>
            </a:pPr>
            <a:r>
              <a:t>• Transaction tracking</a:t>
            </a:r>
          </a:p>
          <a:p>
            <a:pPr>
              <a:spcAft>
                <a:spcPts val="1000"/>
              </a:spcAft>
              <a:defRPr sz="1600"/>
            </a:pPr>
            <a:r>
              <a:t>• Performance metrics</a:t>
            </a:r>
          </a:p>
          <a:p>
            <a:pPr>
              <a:spcAft>
                <a:spcPts val="1000"/>
              </a:spcAft>
              <a:defRPr sz="1600"/>
            </a:pPr>
            <a:r>
              <a:t>• Error reporting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Project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>
              <a:defRPr sz="2000"/>
            </a:pPr>
            <a:r>
              <a:rPr dirty="0"/>
              <a:t>Core Modules: 2 (framework, referential)</a:t>
            </a:r>
          </a:p>
          <a:p>
            <a:pPr>
              <a:defRPr sz="2000"/>
            </a:pPr>
            <a:r>
              <a:rPr dirty="0"/>
              <a:t>Flow Modules: Multiple (flow-</a:t>
            </a:r>
            <a:r>
              <a:rPr dirty="0" err="1"/>
              <a:t>ch</a:t>
            </a:r>
            <a:r>
              <a:rPr dirty="0"/>
              <a:t>/ICHSIC + others)</a:t>
            </a:r>
          </a:p>
          <a:p>
            <a:pPr>
              <a:defRPr sz="2000"/>
            </a:pPr>
            <a:r>
              <a:rPr dirty="0"/>
              <a:t>Custom </a:t>
            </a:r>
            <a:r>
              <a:rPr dirty="0" err="1"/>
              <a:t>Kamelets</a:t>
            </a:r>
            <a:r>
              <a:rPr dirty="0"/>
              <a:t>: </a:t>
            </a:r>
            <a:r>
              <a:rPr lang="fr-FR" dirty="0"/>
              <a:t>20</a:t>
            </a:r>
            <a:r>
              <a:rPr dirty="0"/>
              <a:t>+ reusable components</a:t>
            </a:r>
          </a:p>
          <a:p>
            <a:pPr>
              <a:defRPr sz="2000"/>
            </a:pPr>
            <a:r>
              <a:rPr dirty="0"/>
              <a:t>Infrastructure Components: 9 Docker services</a:t>
            </a:r>
          </a:p>
          <a:p>
            <a:pPr>
              <a:defRPr sz="2000"/>
            </a:pPr>
            <a:r>
              <a:rPr dirty="0"/>
              <a:t>Technology Versions:</a:t>
            </a:r>
          </a:p>
          <a:p>
            <a:pPr lvl="1">
              <a:defRPr sz="1800"/>
            </a:pPr>
            <a:r>
              <a:rPr dirty="0"/>
              <a:t>Java 21 (Latest LTS)</a:t>
            </a:r>
          </a:p>
          <a:p>
            <a:pPr lvl="1">
              <a:defRPr sz="1800"/>
            </a:pPr>
            <a:r>
              <a:rPr dirty="0"/>
              <a:t>Spring Boot 3.4.1</a:t>
            </a:r>
          </a:p>
          <a:p>
            <a:pPr lvl="1">
              <a:defRPr sz="1800"/>
            </a:pPr>
            <a:r>
              <a:rPr dirty="0"/>
              <a:t>Apache Camel 4.1.0</a:t>
            </a:r>
          </a:p>
          <a:p>
            <a:pPr lvl="1">
              <a:defRPr sz="1800"/>
            </a:pPr>
            <a:r>
              <a:rPr dirty="0"/>
              <a:t>PostgreSQL (Latest)</a:t>
            </a:r>
          </a:p>
          <a:p>
            <a:pPr lvl="1">
              <a:defRPr sz="1800"/>
            </a:pPr>
            <a:r>
              <a:rPr dirty="0"/>
              <a:t>Kafka 7.5.0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pPr>
              <a:defRPr sz="2000"/>
            </a:pPr>
            <a:r>
              <a:rPr dirty="0"/>
              <a:t>Short-term Enhancements:</a:t>
            </a:r>
          </a:p>
          <a:p>
            <a:pPr lvl="1">
              <a:defRPr sz="1800"/>
            </a:pPr>
            <a:r>
              <a:rPr dirty="0"/>
              <a:t>Add more payment flows</a:t>
            </a:r>
          </a:p>
          <a:p>
            <a:pPr lvl="1">
              <a:defRPr sz="1800"/>
            </a:pPr>
            <a:r>
              <a:rPr dirty="0"/>
              <a:t>Performance: Optimize Spring caching strategies</a:t>
            </a:r>
          </a:p>
          <a:p>
            <a:pPr lvl="1">
              <a:defRPr sz="1800"/>
            </a:pPr>
            <a:r>
              <a:rPr dirty="0"/>
              <a:t>Kaoto Integration: Visual route design</a:t>
            </a:r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Medium-term Goals:</a:t>
            </a:r>
          </a:p>
          <a:p>
            <a:pPr lvl="1">
              <a:defRPr sz="1800"/>
            </a:pPr>
            <a:r>
              <a:rPr dirty="0"/>
              <a:t>Multi-country: Additional payment schemes</a:t>
            </a:r>
          </a:p>
          <a:p>
            <a:pPr lvl="1">
              <a:defRPr sz="1800"/>
            </a:pPr>
            <a:r>
              <a:rPr dirty="0"/>
              <a:t>CFT Expansion: Enhanced file transfer scenarios</a:t>
            </a:r>
          </a:p>
          <a:p>
            <a:pPr lvl="1">
              <a:defRPr sz="1800"/>
            </a:pPr>
            <a:r>
              <a:rPr dirty="0"/>
              <a:t>Resilience: Circuit breaker with Camel</a:t>
            </a:r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Long-term Vision:</a:t>
            </a:r>
          </a:p>
          <a:p>
            <a:pPr lvl="1">
              <a:defRPr sz="1800"/>
            </a:pPr>
            <a:r>
              <a:rPr dirty="0"/>
              <a:t>Real-time: Stream processing optimization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✓ Apache Camel 4.1.0: Enterprise integration patterns</a:t>
            </a:r>
          </a:p>
          <a:p>
            <a:pPr>
              <a:defRPr sz="2000"/>
            </a:pPr>
            <a:r>
              <a:t>✓ Spring Boot 3.4.1: Modern cloud-native framework</a:t>
            </a:r>
          </a:p>
          <a:p>
            <a:pPr>
              <a:defRPr sz="2000"/>
            </a:pPr>
            <a:r>
              <a:t>✓ Hawtio: Real-time Camel route monitoring</a:t>
            </a:r>
          </a:p>
          <a:p>
            <a:pPr>
              <a:defRPr sz="2000"/>
            </a:pPr>
            <a:r>
              <a:t>✓ Kaoto: Visual low-code integration designer</a:t>
            </a:r>
          </a:p>
          <a:p>
            <a:pPr>
              <a:defRPr sz="2000"/>
            </a:pPr>
            <a:r>
              <a:t>✓ IBM MQ + Kafka + CFT: Enterprise messaging</a:t>
            </a:r>
          </a:p>
          <a:p>
            <a:pPr>
              <a:defRPr sz="2000"/>
            </a:pPr>
            <a:r>
              <a:t>✓ Compliant: ISO 20022 standards adherence</a:t>
            </a:r>
          </a:p>
          <a:p>
            <a:pPr>
              <a:defRPr sz="2000"/>
            </a:pPr>
            <a:r>
              <a:t>✓ Maintainable: Modular Kamelet architecture</a:t>
            </a:r>
          </a:p>
          <a:p>
            <a:pPr>
              <a:defRPr sz="2000"/>
            </a:pPr>
            <a:r>
              <a:t>✓ Flexible: Configuration-driven flows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003366"/>
                </a:solidFill>
              </a:defRPr>
            </a:pPr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PIXEL-V2 - Enterprise Payment Processing, Simplified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</TotalTime>
  <Words>1408</Words>
  <Application>Microsoft Macintosh PowerPoint</Application>
  <PresentationFormat>Affichage à l'écran (4:3)</PresentationFormat>
  <Paragraphs>313</Paragraphs>
  <Slides>31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PIXEL-V2</vt:lpstr>
      <vt:lpstr>Executive Summary</vt:lpstr>
      <vt:lpstr>What is PIXEL-V2?</vt:lpstr>
      <vt:lpstr>Business Value</vt:lpstr>
      <vt:lpstr>System Architecture</vt:lpstr>
      <vt:lpstr>Multi-Module Maven Project</vt:lpstr>
      <vt:lpstr>Key Components</vt:lpstr>
      <vt:lpstr>Technical Framework - Custom Kamelets</vt:lpstr>
      <vt:lpstr>Flow-CH: ICHSIC Flow Example</vt:lpstr>
      <vt:lpstr>Referential Configuration Service</vt:lpstr>
      <vt:lpstr>Technical Stack</vt:lpstr>
      <vt:lpstr>Multi-Flow Architecture Design</vt:lpstr>
      <vt:lpstr>Présentation PowerPoint</vt:lpstr>
      <vt:lpstr>Core Features</vt:lpstr>
      <vt:lpstr>Message Processing Pipeline</vt:lpstr>
      <vt:lpstr>Caching Strategy</vt:lpstr>
      <vt:lpstr>Multi-Flow Architecture</vt:lpstr>
      <vt:lpstr>Example: ICHSIC Flow (One of Many)</vt:lpstr>
      <vt:lpstr>Infrastructure &amp; Deployment</vt:lpstr>
      <vt:lpstr>Docker Compose Stack</vt:lpstr>
      <vt:lpstr>Apache Camel &amp; Spring Boot</vt:lpstr>
      <vt:lpstr>Apache Camel - Enterprise Integration</vt:lpstr>
      <vt:lpstr>Spring Boot 3.4.1 - Modern Framework</vt:lpstr>
      <vt:lpstr>Hawtio - Real-Time Camel Monitoring</vt:lpstr>
      <vt:lpstr>Kaoto - Visual Camel Route Designer</vt:lpstr>
      <vt:lpstr>Security &amp; Compliance</vt:lpstr>
      <vt:lpstr>Présentation PowerPoint</vt:lpstr>
      <vt:lpstr>Project Statistics</vt:lpstr>
      <vt:lpstr>Future Roadmap</vt:lpstr>
      <vt:lpstr>Key Takeaways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nasreddine abassi</cp:lastModifiedBy>
  <cp:revision>4</cp:revision>
  <dcterms:created xsi:type="dcterms:W3CDTF">2013-01-27T09:14:16Z</dcterms:created>
  <dcterms:modified xsi:type="dcterms:W3CDTF">2026-02-19T16:06:33Z</dcterms:modified>
  <cp:category/>
</cp:coreProperties>
</file>